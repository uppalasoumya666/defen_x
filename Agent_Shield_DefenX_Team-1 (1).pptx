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68112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5852160"/>
            <a:ext cx="2788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870448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33446"/>
                </a:solidFill>
                <a:latin typeface="Aptos"/>
              </a:rPr>
              <a:t>PROMPT</a:t>
            </a:r>
            <a:br/>
            <a:r>
              <a:rPr sz="1000" b="1">
                <a:solidFill>
                  <a:srgbClr val="D33446"/>
                </a:solidFill>
                <a:latin typeface="Aptos"/>
              </a:rPr>
              <a:t>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5852160"/>
            <a:ext cx="2788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5870448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C3ADC"/>
                </a:solidFill>
                <a:latin typeface="Aptos"/>
              </a:rPr>
              <a:t>UNAUTHORIZED</a:t>
            </a:r>
            <a:br/>
            <a:r>
              <a:rPr sz="1000" b="1">
                <a:solidFill>
                  <a:srgbClr val="6C3ADC"/>
                </a:solidFill>
                <a:latin typeface="Aptos"/>
              </a:rPr>
              <a:t>TOOL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5852160"/>
            <a:ext cx="2788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5870448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33446"/>
                </a:solidFill>
                <a:latin typeface="Aptos"/>
              </a:rPr>
              <a:t>DATA</a:t>
            </a:r>
            <a:br/>
            <a:r>
              <a:rPr sz="1000" b="1">
                <a:solidFill>
                  <a:srgbClr val="D33446"/>
                </a:solidFill>
                <a:latin typeface="Aptos"/>
              </a:rPr>
              <a:t>LEAKAGE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58768" y="6071616"/>
            <a:ext cx="640080" cy="0"/>
          </a:xfrm>
          <a:prstGeom prst="line">
            <a:avLst/>
          </a:prstGeom>
          <a:ln w="31750">
            <a:solidFill>
              <a:srgbClr val="6C3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24927" y="6071616"/>
            <a:ext cx="640081" cy="0"/>
          </a:xfrm>
          <a:prstGeom prst="line">
            <a:avLst/>
          </a:prstGeom>
          <a:ln w="31750">
            <a:solidFill>
              <a:srgbClr val="6C3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28032" y="5532120"/>
            <a:ext cx="2468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A5C69"/>
                </a:solidFill>
                <a:latin typeface="Aptos"/>
              </a:rPr>
              <a:t>ATTACK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5897880"/>
            <a:ext cx="2057400" cy="502920"/>
          </a:xfrm>
          <a:prstGeom prst="roundRect">
            <a:avLst/>
          </a:prstGeom>
          <a:solidFill>
            <a:srgbClr val="F6F4FB"/>
          </a:solidFill>
          <a:ln w="1778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" y="5939028"/>
            <a:ext cx="420624" cy="420624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594360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95274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C3ADC"/>
                </a:solidFill>
                <a:latin typeface="Aptos"/>
              </a:rPr>
              <a:t>DETECT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6149340"/>
            <a:ext cx="566928" cy="0"/>
          </a:xfrm>
          <a:prstGeom prst="line">
            <a:avLst/>
          </a:prstGeom>
          <a:ln w="27940">
            <a:solidFill>
              <a:srgbClr val="6C3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84448" y="5897880"/>
            <a:ext cx="2057400" cy="502920"/>
          </a:xfrm>
          <a:prstGeom prst="roundRect">
            <a:avLst/>
          </a:prstGeom>
          <a:solidFill>
            <a:srgbClr val="F6F4FB"/>
          </a:solidFill>
          <a:ln w="1778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94176" y="5939028"/>
            <a:ext cx="420624" cy="420624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594360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595274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C3ADC"/>
                </a:solidFill>
                <a:latin typeface="Aptos"/>
              </a:rPr>
              <a:t>CONTROL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" y="6149340"/>
            <a:ext cx="566928" cy="0"/>
          </a:xfrm>
          <a:prstGeom prst="line">
            <a:avLst/>
          </a:prstGeom>
          <a:ln w="27940">
            <a:solidFill>
              <a:srgbClr val="6C3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91655" y="5897880"/>
            <a:ext cx="2057400" cy="502920"/>
          </a:xfrm>
          <a:prstGeom prst="roundRect">
            <a:avLst/>
          </a:prstGeom>
          <a:solidFill>
            <a:srgbClr val="F6F4FB"/>
          </a:solidFill>
          <a:ln w="1778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1383" y="5939028"/>
            <a:ext cx="420624" cy="420624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594360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5" y="595274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C3ADC"/>
                </a:solidFill>
                <a:latin typeface="Aptos"/>
              </a:rPr>
              <a:t>MONITOR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22207" y="6149340"/>
            <a:ext cx="566929" cy="0"/>
          </a:xfrm>
          <a:prstGeom prst="line">
            <a:avLst/>
          </a:prstGeom>
          <a:ln w="27940">
            <a:solidFill>
              <a:srgbClr val="6C3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98863" y="5897880"/>
            <a:ext cx="2057400" cy="502920"/>
          </a:xfrm>
          <a:prstGeom prst="roundRect">
            <a:avLst/>
          </a:prstGeom>
          <a:solidFill>
            <a:srgbClr val="F6F4FB"/>
          </a:solidFill>
          <a:ln w="1778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8591" y="5939028"/>
            <a:ext cx="420624" cy="420624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1" y="594360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1784" y="595274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C3ADC"/>
                </a:solidFill>
                <a:latin typeface="Aptos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8640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A5C69"/>
                </a:solidFill>
                <a:latin typeface="Aptos"/>
              </a:rPr>
              <a:t>RUNTIME SECURITY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40680"/>
            <a:ext cx="12191695" cy="1252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43400" y="5504688"/>
            <a:ext cx="3474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A5C69"/>
                </a:solidFill>
                <a:latin typeface="Aptos"/>
              </a:rPr>
              <a:t>RUNTIME DECISION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5806440"/>
            <a:ext cx="2057400" cy="475488"/>
          </a:xfrm>
          <a:prstGeom prst="roundRect">
            <a:avLst/>
          </a:prstGeom>
          <a:solidFill>
            <a:srgbClr val="F6F4FB"/>
          </a:solidFill>
          <a:ln w="1778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5843016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C3ADC"/>
                </a:solidFill>
                <a:latin typeface="Aptos"/>
              </a:rPr>
              <a:t>RISK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64608" y="6044184"/>
            <a:ext cx="758952" cy="0"/>
          </a:xfrm>
          <a:prstGeom prst="line">
            <a:avLst/>
          </a:prstGeom>
          <a:ln w="27940">
            <a:solidFill>
              <a:srgbClr val="6C3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69280" y="5715000"/>
            <a:ext cx="1051560" cy="658368"/>
          </a:xfrm>
          <a:prstGeom prst="roundRect">
            <a:avLst/>
          </a:prstGeom>
          <a:solidFill>
            <a:srgbClr val="141419"/>
          </a:solidFill>
          <a:ln w="15240">
            <a:solidFill>
              <a:srgbClr val="141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33288" y="576072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POLICY</a:t>
            </a:r>
            <a:br/>
            <a:r>
              <a:rPr sz="1000" b="1">
                <a:solidFill>
                  <a:srgbClr val="FFFFFF"/>
                </a:solidFill>
                <a:latin typeface="Aptos"/>
              </a:rPr>
              <a:t>GATE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812280" y="5669280"/>
            <a:ext cx="640080" cy="256032"/>
          </a:xfrm>
          <a:prstGeom prst="line">
            <a:avLst/>
          </a:prstGeom>
          <a:ln w="27940">
            <a:solidFill>
              <a:srgbClr val="6C3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12280" y="6126480"/>
            <a:ext cx="640080" cy="164592"/>
          </a:xfrm>
          <a:prstGeom prst="line">
            <a:avLst/>
          </a:prstGeom>
          <a:ln w="27940">
            <a:solidFill>
              <a:srgbClr val="D3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16368" y="5449824"/>
            <a:ext cx="1417320" cy="4206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5477256"/>
            <a:ext cx="13075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59669"/>
                </a:solidFill>
                <a:latin typeface="Aptos"/>
              </a:rPr>
              <a:t>✓ ALLOW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6144768"/>
            <a:ext cx="1417320" cy="4206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3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6172200"/>
            <a:ext cx="13075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33446"/>
                </a:solidFill>
                <a:latin typeface="Aptos"/>
              </a:rPr>
              <a:t>✕ BLOCK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3212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72600" y="6153912"/>
            <a:ext cx="2148840" cy="384048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141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91472" y="6172200"/>
            <a:ext cx="1901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AUDIT LOG  • 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5650992"/>
            <a:ext cx="1188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33446"/>
                </a:solidFill>
                <a:latin typeface="Aptos"/>
              </a:rPr>
              <a:t>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650992"/>
            <a:ext cx="1188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33446"/>
                </a:solidFill>
                <a:latin typeface="Aptos"/>
              </a:rPr>
              <a:t>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650992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9669"/>
                </a:solidFill>
                <a:latin typeface="Aptos"/>
              </a:rPr>
              <a:t>PROTECTED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54680" y="5532120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A5C69"/>
                </a:solidFill>
                <a:latin typeface="Aptos"/>
              </a:rPr>
              <a:t>PROTOTYPE VALIDATION  •  NO FABRICATED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5797296"/>
            <a:ext cx="315468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5833872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C3ADC"/>
                </a:solidFill>
                <a:latin typeface="Aptos"/>
              </a:rPr>
              <a:t>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8" y="5833872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41419"/>
                </a:solidFill>
                <a:latin typeface="Aptos"/>
              </a:rPr>
              <a:t>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5797296"/>
            <a:ext cx="315468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5833872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C3ADC"/>
                </a:solidFill>
                <a:latin typeface="Aptos"/>
              </a:rPr>
              <a:t>POLICY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5833872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41419"/>
                </a:solidFill>
                <a:latin typeface="Aptos"/>
              </a:rPr>
              <a:t>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5797296"/>
            <a:ext cx="315468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5833872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9669"/>
                </a:solidFill>
                <a:latin typeface="Aptos"/>
              </a:rPr>
              <a:t>AUDIT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9528" y="5833872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41419"/>
                </a:solidFill>
                <a:latin typeface="Aptos"/>
              </a:rPr>
              <a:t>Implemented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53328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916168"/>
            <a:ext cx="2651760" cy="457200"/>
          </a:xfrm>
          <a:prstGeom prst="roundRect">
            <a:avLst/>
          </a:prstGeom>
          <a:solidFill>
            <a:srgbClr val="F6F4FB"/>
          </a:solidFill>
          <a:ln w="1651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5934455"/>
            <a:ext cx="384048" cy="384048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93902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598017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41419"/>
                </a:solidFill>
                <a:latin typeface="Aptos"/>
              </a:rPr>
              <a:t>MULTI-AGENT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5916168"/>
            <a:ext cx="2651760" cy="457200"/>
          </a:xfrm>
          <a:prstGeom prst="roundRect">
            <a:avLst/>
          </a:prstGeom>
          <a:solidFill>
            <a:srgbClr val="F6F4FB"/>
          </a:solidFill>
          <a:ln w="1651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94759" y="5934455"/>
            <a:ext cx="384048" cy="384048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593902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598017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41419"/>
                </a:solidFill>
                <a:latin typeface="Aptos"/>
              </a:rPr>
              <a:t>CLOUD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5916168"/>
            <a:ext cx="2651760" cy="457200"/>
          </a:xfrm>
          <a:prstGeom prst="roundRect">
            <a:avLst/>
          </a:prstGeom>
          <a:solidFill>
            <a:srgbClr val="F6F4FB"/>
          </a:solidFill>
          <a:ln w="1651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5934455"/>
            <a:ext cx="384048" cy="384048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593902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598017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41419"/>
                </a:solidFill>
                <a:latin typeface="Aptos"/>
              </a:rPr>
              <a:t>CONTINUOUS RED TEAMING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5916168"/>
            <a:ext cx="2651760" cy="457200"/>
          </a:xfrm>
          <a:prstGeom prst="roundRect">
            <a:avLst/>
          </a:prstGeom>
          <a:solidFill>
            <a:srgbClr val="F6F4FB"/>
          </a:solidFill>
          <a:ln w="16510">
            <a:solidFill>
              <a:srgbClr val="6C3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64040" y="5934455"/>
            <a:ext cx="384048" cy="384048"/>
          </a:xfrm>
          <a:prstGeom prst="ellipse">
            <a:avLst/>
          </a:prstGeom>
          <a:solidFill>
            <a:srgbClr val="6C3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593902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598017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41419"/>
                </a:solidFill>
                <a:latin typeface="Aptos"/>
              </a:rPr>
              <a:t>ENTERPRISE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